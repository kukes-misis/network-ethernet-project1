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НИТУ МИСИС • ИНСТИТУТ КОМПЬЮТЕРНЫХ НАУК • КАФЕДРА ИКТ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2400" b="1">
                <a:solidFill>
                  <a:srgbClr val="1A2A3A"/>
                </a:solidFill>
              </a:defRPr>
            </a:pPr>
            <a:r>
              <a:t>Архитектура, аппаратные компоненты и стандарты проводных сетей: исследование и сравнительный анализ сетевых устройств в технологии Ethernet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Практическая работа № 4: Разработка и защита IT проекта (Проект № 1)</a:t>
            </a:r>
            <a:br/>
            <a:r>
              <a:t>Курс: «Вычислительные машины, сети и системы»</a:t>
            </a:r>
          </a:p>
          <a:p>
            <a:pPr>
              <a:spcBef>
                <a:spcPts val="2000"/>
              </a:spcBef>
              <a:defRPr sz="1200"/>
            </a:pPr>
            <a:r>
              <a:t>Команда проекта (гр. БИВТ-26-6-9):</a:t>
            </a:r>
            <a:br/>
            <a:r>
              <a:t>• Ерепов К. М. (руководитель, докладчик)</a:t>
            </a:r>
            <a:br/>
            <a:r>
              <a:t>• Кашин С. К. (дизайнер, работа с доской)</a:t>
            </a:r>
            <a:br/>
            <a:r>
              <a:t>• Якушевский И. И. (тестер)</a:t>
            </a:r>
            <a:br/>
            <a:r>
              <a:t>• Утяцкий В. С. (программист)</a:t>
            </a:r>
            <a:br/>
            <a:r>
              <a:t>• Горбунов К. В. (коммуникатор)</a:t>
            </a:r>
            <a:br/>
            <a:br/>
            <a:r>
              <a:t>Преподаватель: к.т.н., с.н.с. Микитенко И. И. | 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1. Проектная команда и распределение должностей (Регламент кафедры)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Ерепов Кирилл Максимович — 👑 Старший группы, докладчик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Координация научно-технических задач проекта, подготовка доклада и защита перед комиссией.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Кашин Степан Кириллович — 🎨 Дизайнер, работа с доской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Проектирование визуальной доски Miro/Notion, схемы классификации L1/L2/L3 и доменов коллизий.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Якушевский Игорь Игоревич — 🧪 Составитель теста (тестер)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Разработка официального банка из 15 тестовых заданий для кросс-тестирования других команд.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Утяцкий Владислав Сергеевич — 💻 Программист, моделирование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Моделирование в Cisco Packet Tracer, бенчмаркинг полезной емкости CSMA/CD и задержек кадров.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Горбунов Константин В. — 📡 Коммуникатор (связь с командами)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Организация кросс-тестирования, проверка регламента, обратная связь, реестр ссылок.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2. Архитектура оборудования: уровни модели OSI и границы доменов</a:t>
            </a:r>
          </a:p>
        </p:txBody>
      </p:sp>
      <p:pic>
        <p:nvPicPr>
          <p:cNvPr id="3" name="Picture 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8001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3. Анатомия кадра Ethernet II и виртуальные локальные сети (IEEE 802.1Q)</a:t>
            </a:r>
          </a:p>
        </p:txBody>
      </p:sp>
      <p:pic>
        <p:nvPicPr>
          <p:cNvPr id="3" name="Picture 2" descr="fig4_etherne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225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4. Топология корпоративной сети и спецификация устройств</a:t>
            </a:r>
          </a:p>
        </p:txBody>
      </p:sp>
      <p:pic>
        <p:nvPicPr>
          <p:cNvPr id="3" name="Picture 2" descr="fig5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5484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5. Эксперимент: Бенчмаркинг CSMA/CD хаба против коммутатора (100BASE-TX)</a:t>
            </a:r>
          </a:p>
        </p:txBody>
      </p:sp>
      <p:pic>
        <p:nvPicPr>
          <p:cNvPr id="3" name="Picture 2" descr="fig2_benchmark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495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6. Эксперимент: Задержки коммутации и аппаратные разгрузки NIC</a:t>
            </a:r>
          </a:p>
        </p:txBody>
      </p:sp>
      <p:pic>
        <p:nvPicPr>
          <p:cNvPr id="3" name="Picture 2" descr="fig3_databas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4784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7. Контрольное тестирование для других команд (Разработчик: Якушевский И. И.)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Разработан официальный банк из 15 тестовых заданий для кросс-проверки знаний команд:</a:t>
            </a:r>
          </a:p>
          <a:p>
            <a:pPr>
              <a:spcBef>
                <a:spcPts val="600"/>
              </a:spcBef>
              <a:defRPr sz="1300"/>
            </a:pPr>
            <a:r>
              <a:t>• Уровень работы концентратора: L1 (Physical) vs L2 коммутатора (микросегментация);</a:t>
            </a:r>
          </a:p>
          <a:p>
            <a:pPr>
              <a:spcBef>
                <a:spcPts val="600"/>
              </a:spcBef>
              <a:defRPr sz="1300"/>
            </a:pPr>
            <a:r>
              <a:t>• Физические коллизии в полудуплексном Ethernet (CSMA/CD) и правило отката Backoff;</a:t>
            </a:r>
          </a:p>
          <a:p>
            <a:pPr>
              <a:spcBef>
                <a:spcPts val="600"/>
              </a:spcBef>
              <a:defRPr sz="1300"/>
            </a:pPr>
            <a:r>
              <a:t>• Разграничение доменов коллизий (Switch L2) и широковещательных доменов (Router L3);</a:t>
            </a:r>
          </a:p>
          <a:p>
            <a:pPr>
              <a:spcBef>
                <a:spcPts val="600"/>
              </a:spcBef>
              <a:defRPr sz="1300"/>
            </a:pPr>
            <a:r>
              <a:t>• Режимы коммутации: константная задержка Cut-Through (0.45 мкс) vs Store-and-Forward;</a:t>
            </a:r>
          </a:p>
          <a:p>
            <a:pPr>
              <a:spcBef>
                <a:spcPts val="600"/>
              </a:spcBef>
              <a:defRPr sz="1300"/>
            </a:pPr>
            <a:r>
              <a:t>• Структура тега IEEE 802.1Q: TPID 0x8100, PCP (QoS), VID (1..4094 виртуальные сети);</a:t>
            </a:r>
          </a:p>
          <a:p>
            <a:pPr>
              <a:spcBef>
                <a:spcPts val="600"/>
              </a:spcBef>
              <a:defRPr sz="1300"/>
            </a:pPr>
            <a:r>
              <a:t>• Аппаратные механизмы NIC: Checksum Offload, TSO, LRO и Jumbo Frames 9000 байт;</a:t>
            </a:r>
          </a:p>
          <a:p>
            <a:pPr>
              <a:spcBef>
                <a:spcPts val="600"/>
              </a:spcBef>
              <a:defRPr sz="1300"/>
            </a:pPr>
            <a:r>
              <a:t>• Протокол Spanning Tree (STP, 802.1D/w): блокировка избыточных петель и штормов.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Реализована полная автоматизация: Google Apps Script для генерации формы в 1 клик + интерактивный веб-тест.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8. Итоги проекта и реестр ссылок на проектные составляющие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Ключевые инженерные выводы:</a:t>
            </a:r>
          </a:p>
          <a:p>
            <a:pPr>
              <a:spcBef>
                <a:spcPts val="600"/>
              </a:spcBef>
              <a:defRPr sz="1300"/>
            </a:pPr>
            <a:r>
              <a:t>1. Доказано преимущество коммутируемых сетей: 0 коллизий, линейная утилизация до 98 Мбит/с против коллапса хаба (8.2 Мбит/с при 9400 кол/с).</a:t>
            </a:r>
          </a:p>
          <a:p>
            <a:pPr>
              <a:spcBef>
                <a:spcPts val="600"/>
              </a:spcBef>
              <a:defRPr sz="1300"/>
            </a:pPr>
            <a:r>
              <a:t>2. Сквозная коммутация Cut-Through обеспечивает постоянную задержку 0.45 мкс независимо от длины кадра.</a:t>
            </a:r>
          </a:p>
          <a:p>
            <a:pPr>
              <a:spcBef>
                <a:spcPts val="600"/>
              </a:spcBef>
              <a:defRPr sz="1300"/>
            </a:pPr>
            <a:r>
              <a:t>3. Аппаратные разгрузки сетевого адаптера (TSO/LRO/Jumbo) освобождают до 82.6 % ресурсов центрального процессора хоста.</a:t>
            </a:r>
          </a:p>
          <a:p>
            <a:br/>
            <a:pPr>
              <a:defRPr sz="1200">
                <a:solidFill>
                  <a:srgbClr val="2563EB"/>
                </a:solidFill>
              </a:defRPr>
            </a:pPr>
            <a:r>
              <a:t>Ссылки на составляющие проекта (4-я колонка регламента кафедры):</a:t>
            </a:r>
            <a:br/>
            <a:r>
              <a:t>• Виртуальная доска проекта (Miro / Notion): https://miro.com/app/board/misis-bivt-net-project1-ethernet/</a:t>
            </a:r>
            <a:br/>
            <a:r>
              <a:t>• Онлайн-тестирование (Google Forms): https://forms.yandex.ru/u/misis-bivt-project1-ethernet-test/</a:t>
            </a:r>
            <a:br/>
            <a:r>
              <a:t>• Официальный отчет (29 стр. по ГОСТ): https://github.com/kukes-misis/network-ethernet-project1/</a:t>
            </a:r>
            <a:br/>
            <a:r>
              <a:t>• Презентация и материалы защиты: https://cloud.misis.ru/s/pr4-project1-presentation-erepov/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